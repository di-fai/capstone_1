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66" r:id="rId3"/>
    <p:sldId id="264" r:id="rId4"/>
    <p:sldId id="257" r:id="rId5"/>
    <p:sldId id="258" r:id="rId6"/>
    <p:sldId id="259" r:id="rId7"/>
    <p:sldId id="268" r:id="rId8"/>
    <p:sldId id="261" r:id="rId9"/>
    <p:sldId id="262" r:id="rId10"/>
    <p:sldId id="263" r:id="rId11"/>
    <p:sldId id="265" r:id="rId12"/>
    <p:sldId id="269" r:id="rId13"/>
    <p:sldId id="270"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CC1B6A-A3B2-6562-895B-79F6EF767001}" v="27" dt="2026-04-30T13:50:10.843"/>
    <p1510:client id="{FCE4939C-9BA5-A421-58A2-896E540DE62E}" v="2" dt="2026-04-30T04:27:02.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8" autoAdjust="0"/>
    <p:restoredTop sz="94660"/>
  </p:normalViewPr>
  <p:slideViewPr>
    <p:cSldViewPr snapToGrid="0">
      <p:cViewPr varScale="1">
        <p:scale>
          <a:sx n="98" d="100"/>
          <a:sy n="98" d="100"/>
        </p:scale>
        <p:origin x="5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59DC7B-DED9-4CD4-A845-5F5CF23704D1}"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5038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C7B-DED9-4CD4-A845-5F5CF23704D1}"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047447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59DC7B-DED9-4CD4-A845-5F5CF23704D1}"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2808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59DC7B-DED9-4CD4-A845-5F5CF23704D1}"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185377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488032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59DC7B-DED9-4CD4-A845-5F5CF23704D1}"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1660256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930595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159DC7B-DED9-4CD4-A845-5F5CF23704D1}" type="datetimeFigureOut">
              <a:rPr lang="en-US" smtClean="0"/>
              <a:t>4/30/2026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47F692B-E176-4DAC-AC9E-5F2C49D9213E}" type="slidenum">
              <a:rPr lang="en-US" smtClean="0"/>
              <a:t>‹#›</a:t>
            </a:fld>
            <a:endParaRPr lang="en-US"/>
          </a:p>
        </p:txBody>
      </p:sp>
    </p:spTree>
    <p:extLst>
      <p:ext uri="{BB962C8B-B14F-4D97-AF65-F5344CB8AC3E}">
        <p14:creationId xmlns:p14="http://schemas.microsoft.com/office/powerpoint/2010/main" val="1183427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59DC7B-DED9-4CD4-A845-5F5CF23704D1}"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913978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C7B-DED9-4CD4-A845-5F5CF23704D1}"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1113543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C7B-DED9-4CD4-A845-5F5CF23704D1}"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212985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159DC7B-DED9-4CD4-A845-5F5CF23704D1}" type="datetimeFigureOut">
              <a:rPr lang="en-US" smtClean="0"/>
              <a:t>4/30/2026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47F692B-E176-4DAC-AC9E-5F2C49D9213E}"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985747"/>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F78D2-AFC5-C86A-11EB-8456A923B98B}"/>
              </a:ext>
            </a:extLst>
          </p:cNvPr>
          <p:cNvSpPr>
            <a:spLocks noGrp="1"/>
          </p:cNvSpPr>
          <p:nvPr>
            <p:ph type="ctrTitle"/>
          </p:nvPr>
        </p:nvSpPr>
        <p:spPr>
          <a:xfrm>
            <a:off x="3502731" y="1542402"/>
            <a:ext cx="5186842" cy="2387918"/>
          </a:xfrm>
        </p:spPr>
        <p:txBody>
          <a:bodyPr anchor="b">
            <a:normAutofit/>
          </a:bodyPr>
          <a:lstStyle/>
          <a:p>
            <a:r>
              <a:rPr lang="en-US" sz="5200">
                <a:solidFill>
                  <a:schemeClr val="tx2"/>
                </a:solidFill>
              </a:rPr>
              <a:t>Capstone Project</a:t>
            </a:r>
            <a:br>
              <a:rPr lang="en-US" sz="5200">
                <a:solidFill>
                  <a:schemeClr val="tx2"/>
                </a:solidFill>
              </a:rPr>
            </a:br>
            <a:endParaRPr lang="en-US" sz="5200">
              <a:solidFill>
                <a:schemeClr val="tx2"/>
              </a:solidFill>
            </a:endParaRPr>
          </a:p>
        </p:txBody>
      </p:sp>
      <p:sp>
        <p:nvSpPr>
          <p:cNvPr id="3" name="Subtitle 2">
            <a:extLst>
              <a:ext uri="{FF2B5EF4-FFF2-40B4-BE49-F238E27FC236}">
                <a16:creationId xmlns:a16="http://schemas.microsoft.com/office/drawing/2014/main" id="{667DB69B-E246-D0F0-555E-2362439047FE}"/>
              </a:ext>
            </a:extLst>
          </p:cNvPr>
          <p:cNvSpPr>
            <a:spLocks noGrp="1"/>
          </p:cNvSpPr>
          <p:nvPr>
            <p:ph type="subTitle" idx="1"/>
          </p:nvPr>
        </p:nvSpPr>
        <p:spPr>
          <a:xfrm>
            <a:off x="3502135" y="4001587"/>
            <a:ext cx="5188034" cy="682079"/>
          </a:xfrm>
        </p:spPr>
        <p:txBody>
          <a:bodyPr vert="horz" lIns="91440" tIns="45720" rIns="91440" bIns="45720" rtlCol="0">
            <a:normAutofit/>
          </a:bodyPr>
          <a:lstStyle/>
          <a:p>
            <a:r>
              <a:rPr lang="en-US" sz="1500">
                <a:solidFill>
                  <a:schemeClr val="tx2"/>
                </a:solidFill>
              </a:rPr>
              <a:t>Nji Dimitri Kedze</a:t>
            </a:r>
          </a:p>
          <a:p>
            <a:r>
              <a:rPr lang="en-US" sz="1500">
                <a:solidFill>
                  <a:schemeClr val="tx2"/>
                </a:solidFill>
              </a:rPr>
              <a:t>Data Analytics (Software)</a:t>
            </a:r>
          </a:p>
        </p:txBody>
      </p:sp>
    </p:spTree>
    <p:extLst>
      <p:ext uri="{BB962C8B-B14F-4D97-AF65-F5344CB8AC3E}">
        <p14:creationId xmlns:p14="http://schemas.microsoft.com/office/powerpoint/2010/main" val="319665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B01E8-B568-1EFA-419D-9152D52315E2}"/>
              </a:ext>
            </a:extLst>
          </p:cNvPr>
          <p:cNvSpPr>
            <a:spLocks noGrp="1"/>
          </p:cNvSpPr>
          <p:nvPr>
            <p:ph type="title"/>
          </p:nvPr>
        </p:nvSpPr>
        <p:spPr>
          <a:xfrm>
            <a:off x="3027924" y="991261"/>
            <a:ext cx="5754696" cy="1837349"/>
          </a:xfrm>
        </p:spPr>
        <p:txBody>
          <a:bodyPr>
            <a:normAutofit/>
          </a:bodyPr>
          <a:lstStyle/>
          <a:p>
            <a:pPr algn="ctr"/>
            <a:r>
              <a:rPr lang="en-US" sz="3600">
                <a:solidFill>
                  <a:schemeClr val="tx2"/>
                </a:solidFill>
              </a:rPr>
              <a:t>Introduction</a:t>
            </a:r>
          </a:p>
        </p:txBody>
      </p:sp>
      <p:sp>
        <p:nvSpPr>
          <p:cNvPr id="3" name="Content Placeholder 2">
            <a:extLst>
              <a:ext uri="{FF2B5EF4-FFF2-40B4-BE49-F238E27FC236}">
                <a16:creationId xmlns:a16="http://schemas.microsoft.com/office/drawing/2014/main" id="{10D82374-91D6-F78D-55FC-2C07836B9E5C}"/>
              </a:ext>
            </a:extLst>
          </p:cNvPr>
          <p:cNvSpPr>
            <a:spLocks noGrp="1"/>
          </p:cNvSpPr>
          <p:nvPr>
            <p:ph idx="1"/>
          </p:nvPr>
        </p:nvSpPr>
        <p:spPr>
          <a:xfrm>
            <a:off x="3050412" y="2979336"/>
            <a:ext cx="5709721" cy="2430864"/>
          </a:xfrm>
        </p:spPr>
        <p:txBody>
          <a:bodyPr anchor="t">
            <a:normAutofit/>
          </a:bodyPr>
          <a:lstStyle/>
          <a:p>
            <a:r>
              <a:rPr lang="en-US" sz="2000">
                <a:solidFill>
                  <a:schemeClr val="tx2"/>
                </a:solidFill>
              </a:rPr>
              <a:t>I was assigned to perform a sales analysis for  EmporiUm, a student bookstore chain that also sells tech products, art supplies, and other products in the state of_ New Jersey in the Northeast Region</a:t>
            </a:r>
          </a:p>
          <a:p>
            <a:r>
              <a:rPr lang="en-US" sz="2000">
                <a:solidFill>
                  <a:schemeClr val="tx2"/>
                </a:solidFill>
              </a:rPr>
              <a:t>My Assigned manager is Miami Vue for the New Jersey State (Northeast Region)</a:t>
            </a:r>
          </a:p>
          <a:p>
            <a:endParaRPr lang="en-US" sz="2000">
              <a:solidFill>
                <a:schemeClr val="tx2"/>
              </a:solidFill>
            </a:endParaRPr>
          </a:p>
        </p:txBody>
      </p:sp>
    </p:spTree>
    <p:extLst>
      <p:ext uri="{BB962C8B-B14F-4D97-AF65-F5344CB8AC3E}">
        <p14:creationId xmlns:p14="http://schemas.microsoft.com/office/powerpoint/2010/main" val="4102730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34A7-8080-CBDA-D5DA-DC875927A7D9}"/>
              </a:ext>
            </a:extLst>
          </p:cNvPr>
          <p:cNvSpPr>
            <a:spLocks noGrp="1"/>
          </p:cNvSpPr>
          <p:nvPr>
            <p:ph type="title"/>
          </p:nvPr>
        </p:nvSpPr>
        <p:spPr>
          <a:xfrm>
            <a:off x="3033466" y="991261"/>
            <a:ext cx="5754696" cy="1837349"/>
          </a:xfrm>
        </p:spPr>
        <p:txBody>
          <a:bodyPr anchor="b">
            <a:normAutofit/>
          </a:bodyPr>
          <a:lstStyle/>
          <a:p>
            <a:pPr algn="ctr"/>
            <a:r>
              <a:rPr lang="en-US" sz="3600">
                <a:solidFill>
                  <a:schemeClr val="tx2"/>
                </a:solidFill>
              </a:rPr>
              <a:t>Sales Analysis</a:t>
            </a:r>
          </a:p>
        </p:txBody>
      </p:sp>
      <p:sp>
        <p:nvSpPr>
          <p:cNvPr id="3" name="Content Placeholder 2">
            <a:extLst>
              <a:ext uri="{FF2B5EF4-FFF2-40B4-BE49-F238E27FC236}">
                <a16:creationId xmlns:a16="http://schemas.microsoft.com/office/drawing/2014/main" id="{F7D12227-F742-B5FE-802D-13CBC09F6CF8}"/>
              </a:ext>
            </a:extLst>
          </p:cNvPr>
          <p:cNvSpPr>
            <a:spLocks noGrp="1"/>
          </p:cNvSpPr>
          <p:nvPr>
            <p:ph idx="1"/>
          </p:nvPr>
        </p:nvSpPr>
        <p:spPr>
          <a:xfrm>
            <a:off x="3055954" y="2979336"/>
            <a:ext cx="5709721" cy="2430864"/>
          </a:xfrm>
        </p:spPr>
        <p:txBody>
          <a:bodyPr anchor="t">
            <a:normAutofit/>
          </a:bodyPr>
          <a:lstStyle/>
          <a:p>
            <a:pPr marL="514350" indent="-514350">
              <a:buFont typeface="+mj-lt"/>
              <a:buAutoNum type="arabicPeriod"/>
            </a:pPr>
            <a:r>
              <a:rPr lang="en-US" sz="1000">
                <a:solidFill>
                  <a:schemeClr val="tx2"/>
                </a:solidFill>
              </a:rPr>
              <a:t>What is total revenue overall for sales in the assigned territory, plus the start date and end date that tell you what period the data covers?</a:t>
            </a:r>
          </a:p>
          <a:p>
            <a:pPr marL="514350" indent="-514350">
              <a:buFont typeface="+mj-lt"/>
              <a:buAutoNum type="arabicPeriod"/>
            </a:pPr>
            <a:r>
              <a:rPr lang="en-US" sz="1000">
                <a:solidFill>
                  <a:schemeClr val="tx2"/>
                </a:solidFill>
              </a:rPr>
              <a:t>What is total revenue overall for sales in the assigned territory, plus the start date and end date that tell you what period the data covers?</a:t>
            </a:r>
          </a:p>
          <a:p>
            <a:pPr marL="514350" indent="-514350">
              <a:buFont typeface="+mj-lt"/>
              <a:buAutoNum type="arabicPeriod"/>
            </a:pPr>
            <a:r>
              <a:rPr lang="en-US" sz="1000">
                <a:solidFill>
                  <a:schemeClr val="tx2"/>
                </a:solidFill>
              </a:rPr>
              <a:t>Provide a comparison of total revenue for the specific sales territory and the region it belongs to.</a:t>
            </a:r>
          </a:p>
          <a:p>
            <a:pPr marL="514350" indent="-514350">
              <a:buFont typeface="+mj-lt"/>
              <a:buAutoNum type="arabicPeriod"/>
            </a:pPr>
            <a:r>
              <a:rPr lang="en-US" sz="1000">
                <a:solidFill>
                  <a:schemeClr val="tx2"/>
                </a:solidFill>
              </a:rPr>
              <a:t>What is the number of transactions per month and average transaction size by product category for the sales territory? </a:t>
            </a:r>
          </a:p>
          <a:p>
            <a:pPr marL="514350" indent="-514350">
              <a:buFont typeface="+mj-lt"/>
              <a:buAutoNum type="arabicPeriod"/>
            </a:pPr>
            <a:r>
              <a:rPr lang="en-US" sz="1000">
                <a:solidFill>
                  <a:schemeClr val="tx2"/>
                </a:solidFill>
              </a:rPr>
              <a:t>Can you provide a ranking of in-store sales performance by each store in the sales territory, or a ranking of online sales performance by state within an online sales territory? </a:t>
            </a:r>
          </a:p>
          <a:p>
            <a:pPr marL="514350" indent="-514350">
              <a:buFont typeface="+mj-lt"/>
              <a:buAutoNum type="arabicPeriod"/>
            </a:pPr>
            <a:r>
              <a:rPr lang="en-US" sz="1000">
                <a:solidFill>
                  <a:schemeClr val="tx2"/>
                </a:solidFill>
              </a:rPr>
              <a:t> What is your recommendation for where to focus sales attention in the next quarter? </a:t>
            </a:r>
          </a:p>
          <a:p>
            <a:endParaRPr lang="en-US" sz="1000">
              <a:solidFill>
                <a:schemeClr val="tx2"/>
              </a:solidFill>
            </a:endParaRPr>
          </a:p>
          <a:p>
            <a:endParaRPr lang="en-US" sz="1000">
              <a:solidFill>
                <a:schemeClr val="tx2"/>
              </a:solidFill>
            </a:endParaRPr>
          </a:p>
          <a:p>
            <a:endParaRPr lang="en-US" sz="1000">
              <a:solidFill>
                <a:schemeClr val="tx2"/>
              </a:solidFill>
            </a:endParaRPr>
          </a:p>
        </p:txBody>
      </p:sp>
    </p:spTree>
    <p:extLst>
      <p:ext uri="{BB962C8B-B14F-4D97-AF65-F5344CB8AC3E}">
        <p14:creationId xmlns:p14="http://schemas.microsoft.com/office/powerpoint/2010/main" val="3663634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AA0E91-312C-34E9-963E-1C7A9B0385D4}"/>
              </a:ext>
            </a:extLst>
          </p:cNvPr>
          <p:cNvSpPr>
            <a:spLocks noGrp="1"/>
          </p:cNvSpPr>
          <p:nvPr>
            <p:ph type="title"/>
          </p:nvPr>
        </p:nvSpPr>
        <p:spPr/>
        <p:txBody>
          <a:bodyPr>
            <a:noAutofit/>
          </a:bodyPr>
          <a:lstStyle/>
          <a:p>
            <a:pPr algn="ctr"/>
            <a:r>
              <a:rPr lang="en-US" sz="2400" dirty="0"/>
              <a:t>What is total revenue overall for sales in the assigned territory, plus the start date and end date that tell you what period the data covers?</a:t>
            </a:r>
          </a:p>
        </p:txBody>
      </p:sp>
      <p:sp>
        <p:nvSpPr>
          <p:cNvPr id="5" name="Text Placeholder 4">
            <a:extLst>
              <a:ext uri="{FF2B5EF4-FFF2-40B4-BE49-F238E27FC236}">
                <a16:creationId xmlns:a16="http://schemas.microsoft.com/office/drawing/2014/main" id="{950A2904-CD47-DF5A-23C4-AB9FC3F1EF71}"/>
              </a:ext>
            </a:extLst>
          </p:cNvPr>
          <p:cNvSpPr>
            <a:spLocks noGrp="1"/>
          </p:cNvSpPr>
          <p:nvPr>
            <p:ph type="body" idx="1"/>
          </p:nvPr>
        </p:nvSpPr>
        <p:spPr/>
        <p:txBody>
          <a:bodyPr/>
          <a:lstStyle/>
          <a:p>
            <a:r>
              <a:rPr lang="en-US" dirty="0"/>
              <a:t>Result</a:t>
            </a:r>
          </a:p>
        </p:txBody>
      </p:sp>
      <p:pic>
        <p:nvPicPr>
          <p:cNvPr id="3" name="Content Placeholder 2" descr="The image shows a data table with columns for territory, total revenue, date range, and a filtered result for New Jersey Store Sales, with a selected action output displaying a sum of sales.&#10;&#10;AI-generated content may be incorrect.">
            <a:extLst>
              <a:ext uri="{FF2B5EF4-FFF2-40B4-BE49-F238E27FC236}">
                <a16:creationId xmlns:a16="http://schemas.microsoft.com/office/drawing/2014/main" id="{3778F10B-9038-1544-17C5-281B93E2220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459688" y="2582863"/>
            <a:ext cx="4213261" cy="3378200"/>
          </a:xfrm>
          <a:prstGeom prst="rect">
            <a:avLst/>
          </a:prstGeom>
        </p:spPr>
      </p:pic>
      <p:sp>
        <p:nvSpPr>
          <p:cNvPr id="7" name="Text Placeholder 6">
            <a:extLst>
              <a:ext uri="{FF2B5EF4-FFF2-40B4-BE49-F238E27FC236}">
                <a16:creationId xmlns:a16="http://schemas.microsoft.com/office/drawing/2014/main" id="{6A614EF3-EC45-20D1-8DF4-6C10ACC4A636}"/>
              </a:ext>
            </a:extLst>
          </p:cNvPr>
          <p:cNvSpPr>
            <a:spLocks noGrp="1"/>
          </p:cNvSpPr>
          <p:nvPr>
            <p:ph type="body" sz="quarter" idx="3"/>
          </p:nvPr>
        </p:nvSpPr>
        <p:spPr/>
        <p:txBody>
          <a:bodyPr/>
          <a:lstStyle/>
          <a:p>
            <a:r>
              <a:rPr lang="en-US" dirty="0"/>
              <a:t>Query</a:t>
            </a:r>
          </a:p>
        </p:txBody>
      </p:sp>
      <p:pic>
        <p:nvPicPr>
          <p:cNvPr id="10" name="Content Placeholder 9" descr="The provided text is actually a snippet of a SQL query rather than an image, so I can't describe a visual image. However, I can explain the query's purpose.&#10;&#10;The SQL query is designed to calculate the total revenue, as well as the earliest and latest transaction dates for all sales in stores located in New Jersey. It does this by joining two tables, `store_sales` and `store_locations`, on their `Store_ID` field. It then filters the results to include only those records where the state is 'New Jersey'.&#10;&#10;AI-generated content may be incorrect.">
            <a:extLst>
              <a:ext uri="{FF2B5EF4-FFF2-40B4-BE49-F238E27FC236}">
                <a16:creationId xmlns:a16="http://schemas.microsoft.com/office/drawing/2014/main" id="{C9BDAEE5-0145-B069-51E6-9887092CDBE5}"/>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18238" y="2849207"/>
            <a:ext cx="4937125" cy="2845512"/>
          </a:xfrm>
          <a:prstGeom prst="rect">
            <a:avLst/>
          </a:prstGeom>
        </p:spPr>
      </p:pic>
    </p:spTree>
    <p:extLst>
      <p:ext uri="{BB962C8B-B14F-4D97-AF65-F5344CB8AC3E}">
        <p14:creationId xmlns:p14="http://schemas.microsoft.com/office/powerpoint/2010/main" val="3345837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D2D70-70CA-ECE6-781C-1EB7FE3EB9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FA1589-F1C3-B2FF-5E37-0B6FACC89FC3}"/>
              </a:ext>
            </a:extLst>
          </p:cNvPr>
          <p:cNvSpPr>
            <a:spLocks noGrp="1"/>
          </p:cNvSpPr>
          <p:nvPr>
            <p:ph type="title"/>
          </p:nvPr>
        </p:nvSpPr>
        <p:spPr/>
        <p:txBody>
          <a:bodyPr>
            <a:noAutofit/>
          </a:bodyPr>
          <a:lstStyle/>
          <a:p>
            <a:pPr algn="ctr"/>
            <a:r>
              <a:rPr lang="en-US" sz="2400" dirty="0"/>
              <a:t>What is the month by month revenue breakdown for the sales territory? </a:t>
            </a:r>
          </a:p>
        </p:txBody>
      </p:sp>
      <p:sp>
        <p:nvSpPr>
          <p:cNvPr id="5" name="Text Placeholder 4">
            <a:extLst>
              <a:ext uri="{FF2B5EF4-FFF2-40B4-BE49-F238E27FC236}">
                <a16:creationId xmlns:a16="http://schemas.microsoft.com/office/drawing/2014/main" id="{54463F80-0CCA-B00A-2C9B-BA3F0A34CF61}"/>
              </a:ext>
            </a:extLst>
          </p:cNvPr>
          <p:cNvSpPr>
            <a:spLocks noGrp="1"/>
          </p:cNvSpPr>
          <p:nvPr>
            <p:ph type="body" idx="1"/>
          </p:nvPr>
        </p:nvSpPr>
        <p:spPr/>
        <p:txBody>
          <a:bodyPr/>
          <a:lstStyle/>
          <a:p>
            <a:r>
              <a:rPr lang="en-US" dirty="0"/>
              <a:t>Result</a:t>
            </a:r>
          </a:p>
        </p:txBody>
      </p:sp>
      <p:pic>
        <p:nvPicPr>
          <p:cNvPr id="3" name="Content Placeholder 2" descr="The image depicts a result grid displaying sales data for various months, including total revenue and number of transactions, for the year 2022.&#10;&#10;AI-generated content may be incorrect.">
            <a:extLst>
              <a:ext uri="{FF2B5EF4-FFF2-40B4-BE49-F238E27FC236}">
                <a16:creationId xmlns:a16="http://schemas.microsoft.com/office/drawing/2014/main" id="{CEB9CDDF-EA32-EF47-4EB5-CBC63AD14FE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90335" y="2582863"/>
            <a:ext cx="4751968" cy="3378200"/>
          </a:xfrm>
          <a:prstGeom prst="rect">
            <a:avLst/>
          </a:prstGeom>
        </p:spPr>
      </p:pic>
      <p:sp>
        <p:nvSpPr>
          <p:cNvPr id="7" name="Text Placeholder 6">
            <a:extLst>
              <a:ext uri="{FF2B5EF4-FFF2-40B4-BE49-F238E27FC236}">
                <a16:creationId xmlns:a16="http://schemas.microsoft.com/office/drawing/2014/main" id="{F33739D1-0B74-8131-4AE4-A3D2812ED59D}"/>
              </a:ext>
            </a:extLst>
          </p:cNvPr>
          <p:cNvSpPr>
            <a:spLocks noGrp="1"/>
          </p:cNvSpPr>
          <p:nvPr>
            <p:ph type="body" sz="quarter" idx="3"/>
          </p:nvPr>
        </p:nvSpPr>
        <p:spPr/>
        <p:txBody>
          <a:bodyPr/>
          <a:lstStyle/>
          <a:p>
            <a:r>
              <a:rPr lang="en-US" dirty="0"/>
              <a:t>Query</a:t>
            </a:r>
          </a:p>
        </p:txBody>
      </p:sp>
      <p:pic>
        <p:nvPicPr>
          <p:cNvPr id="10" name="Content Placeholder 9" descr="The SQL query extracts monthly revenue and transaction count for New Jersey stores from the 'store_sales' table, grouped by year and month.&#10;&#10;AI-generated content may be incorrect.">
            <a:extLst>
              <a:ext uri="{FF2B5EF4-FFF2-40B4-BE49-F238E27FC236}">
                <a16:creationId xmlns:a16="http://schemas.microsoft.com/office/drawing/2014/main" id="{4D9B73AD-7FEA-C3F2-4A65-D79EB488A18A}"/>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549398" y="2582863"/>
            <a:ext cx="4274804" cy="3378200"/>
          </a:xfrm>
          <a:prstGeom prst="rect">
            <a:avLst/>
          </a:prstGeom>
        </p:spPr>
      </p:pic>
    </p:spTree>
    <p:extLst>
      <p:ext uri="{BB962C8B-B14F-4D97-AF65-F5344CB8AC3E}">
        <p14:creationId xmlns:p14="http://schemas.microsoft.com/office/powerpoint/2010/main" val="3213898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256C8-6EC8-4A9B-9F67-C1DC0B239E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E52E67-DEC4-BA06-18E9-D7972F56C88D}"/>
              </a:ext>
            </a:extLst>
          </p:cNvPr>
          <p:cNvSpPr>
            <a:spLocks noGrp="1"/>
          </p:cNvSpPr>
          <p:nvPr>
            <p:ph type="title"/>
          </p:nvPr>
        </p:nvSpPr>
        <p:spPr/>
        <p:txBody>
          <a:bodyPr>
            <a:noAutofit/>
          </a:bodyPr>
          <a:lstStyle/>
          <a:p>
            <a:pPr algn="ctr"/>
            <a:r>
              <a:rPr lang="en-US" sz="2400" dirty="0"/>
              <a:t>Provide a comparison of total revenue for the specific sales territory and the region it belongs to. </a:t>
            </a:r>
          </a:p>
        </p:txBody>
      </p:sp>
      <p:sp>
        <p:nvSpPr>
          <p:cNvPr id="5" name="Text Placeholder 4">
            <a:extLst>
              <a:ext uri="{FF2B5EF4-FFF2-40B4-BE49-F238E27FC236}">
                <a16:creationId xmlns:a16="http://schemas.microsoft.com/office/drawing/2014/main" id="{2574CE91-5525-1ABC-D10A-C5FA3B97C00E}"/>
              </a:ext>
            </a:extLst>
          </p:cNvPr>
          <p:cNvSpPr>
            <a:spLocks noGrp="1"/>
          </p:cNvSpPr>
          <p:nvPr>
            <p:ph type="body" idx="1"/>
          </p:nvPr>
        </p:nvSpPr>
        <p:spPr/>
        <p:txBody>
          <a:bodyPr/>
          <a:lstStyle/>
          <a:p>
            <a:r>
              <a:rPr lang="en-US" dirty="0"/>
              <a:t>Result</a:t>
            </a:r>
          </a:p>
        </p:txBody>
      </p:sp>
      <p:pic>
        <p:nvPicPr>
          <p:cNvPr id="3" name="Content Placeholder 2" descr="The image shows a software interface with a grid filter for a results table, including various fields such as 'State', 'Management', and 'Sale_Amount', with sample data entries for New Jersey and other states.&#10;&#10;AI-generated content may be incorrect.">
            <a:extLst>
              <a:ext uri="{FF2B5EF4-FFF2-40B4-BE49-F238E27FC236}">
                <a16:creationId xmlns:a16="http://schemas.microsoft.com/office/drawing/2014/main" id="{C2AD5DD4-CB67-8683-F3CC-B8A87184B99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96963" y="2944178"/>
            <a:ext cx="4938712" cy="2655569"/>
          </a:xfrm>
          <a:prstGeom prst="rect">
            <a:avLst/>
          </a:prstGeom>
        </p:spPr>
      </p:pic>
      <p:sp>
        <p:nvSpPr>
          <p:cNvPr id="7" name="Text Placeholder 6">
            <a:extLst>
              <a:ext uri="{FF2B5EF4-FFF2-40B4-BE49-F238E27FC236}">
                <a16:creationId xmlns:a16="http://schemas.microsoft.com/office/drawing/2014/main" id="{204DBED5-B1DA-010B-90A4-F91E1DE15157}"/>
              </a:ext>
            </a:extLst>
          </p:cNvPr>
          <p:cNvSpPr>
            <a:spLocks noGrp="1"/>
          </p:cNvSpPr>
          <p:nvPr>
            <p:ph type="body" sz="quarter" idx="3"/>
          </p:nvPr>
        </p:nvSpPr>
        <p:spPr/>
        <p:txBody>
          <a:bodyPr/>
          <a:lstStyle/>
          <a:p>
            <a:r>
              <a:rPr lang="en-US" dirty="0"/>
              <a:t>Query</a:t>
            </a:r>
          </a:p>
        </p:txBody>
      </p:sp>
      <p:pic>
        <p:nvPicPr>
          <p:cNvPr id="10" name="Content Placeholder 9" descr="The image shows a snippet of a SQL query selecting distinct states from a management table where the region is set to 'Northeast'.&#10;&#10;AI-generated content may be incorrect.">
            <a:extLst>
              <a:ext uri="{FF2B5EF4-FFF2-40B4-BE49-F238E27FC236}">
                <a16:creationId xmlns:a16="http://schemas.microsoft.com/office/drawing/2014/main" id="{7C0F6A3E-50EC-672B-FDF0-A94E8B8DE836}"/>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18238" y="3372606"/>
            <a:ext cx="4937125" cy="1798714"/>
          </a:xfrm>
          <a:prstGeom prst="rect">
            <a:avLst/>
          </a:prstGeom>
        </p:spPr>
      </p:pic>
    </p:spTree>
    <p:extLst>
      <p:ext uri="{BB962C8B-B14F-4D97-AF65-F5344CB8AC3E}">
        <p14:creationId xmlns:p14="http://schemas.microsoft.com/office/powerpoint/2010/main" val="414792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E1BCD-413A-5D43-DF61-071CAE3ED9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7197C7-20A3-D478-725B-9F97CE9EC7CB}"/>
              </a:ext>
            </a:extLst>
          </p:cNvPr>
          <p:cNvSpPr>
            <a:spLocks noGrp="1"/>
          </p:cNvSpPr>
          <p:nvPr>
            <p:ph type="title"/>
          </p:nvPr>
        </p:nvSpPr>
        <p:spPr/>
        <p:txBody>
          <a:bodyPr>
            <a:noAutofit/>
          </a:bodyPr>
          <a:lstStyle/>
          <a:p>
            <a:pPr algn="ctr"/>
            <a:r>
              <a:rPr lang="en-US" sz="2400" dirty="0"/>
              <a:t>Provide a comparison of total revenue for the specific sales territory and the region it belongs to. </a:t>
            </a:r>
          </a:p>
        </p:txBody>
      </p:sp>
      <p:sp>
        <p:nvSpPr>
          <p:cNvPr id="5" name="Text Placeholder 4">
            <a:extLst>
              <a:ext uri="{FF2B5EF4-FFF2-40B4-BE49-F238E27FC236}">
                <a16:creationId xmlns:a16="http://schemas.microsoft.com/office/drawing/2014/main" id="{4B8E4BE5-F6A1-6D65-119B-ABBF69B6B9BA}"/>
              </a:ext>
            </a:extLst>
          </p:cNvPr>
          <p:cNvSpPr>
            <a:spLocks noGrp="1"/>
          </p:cNvSpPr>
          <p:nvPr>
            <p:ph type="body" idx="1"/>
          </p:nvPr>
        </p:nvSpPr>
        <p:spPr/>
        <p:txBody>
          <a:bodyPr/>
          <a:lstStyle/>
          <a:p>
            <a:r>
              <a:rPr lang="en-US" dirty="0"/>
              <a:t>Result</a:t>
            </a:r>
          </a:p>
        </p:txBody>
      </p:sp>
      <p:pic>
        <p:nvPicPr>
          <p:cNvPr id="12" name="Content Placeholder 11" descr="The image displays a data table with columns such as 'Filter Rows', 'Total Revenue', 'Number of Transactions', and 'Result 47 X', with various numerical values and actions related to sales data.&#10;&#10;AI-generated content may be incorrect.">
            <a:extLst>
              <a:ext uri="{FF2B5EF4-FFF2-40B4-BE49-F238E27FC236}">
                <a16:creationId xmlns:a16="http://schemas.microsoft.com/office/drawing/2014/main" id="{B0D7F59C-178D-6F72-EC75-224708747E3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96963" y="2721790"/>
            <a:ext cx="4938712" cy="3100346"/>
          </a:xfrm>
          <a:prstGeom prst="rect">
            <a:avLst/>
          </a:prstGeom>
        </p:spPr>
      </p:pic>
      <p:sp>
        <p:nvSpPr>
          <p:cNvPr id="7" name="Text Placeholder 6">
            <a:extLst>
              <a:ext uri="{FF2B5EF4-FFF2-40B4-BE49-F238E27FC236}">
                <a16:creationId xmlns:a16="http://schemas.microsoft.com/office/drawing/2014/main" id="{F098824C-53A6-FF2B-1860-B7F726E8D1CA}"/>
              </a:ext>
            </a:extLst>
          </p:cNvPr>
          <p:cNvSpPr>
            <a:spLocks noGrp="1"/>
          </p:cNvSpPr>
          <p:nvPr>
            <p:ph type="body" sz="quarter" idx="3"/>
          </p:nvPr>
        </p:nvSpPr>
        <p:spPr/>
        <p:txBody>
          <a:bodyPr/>
          <a:lstStyle/>
          <a:p>
            <a:r>
              <a:rPr lang="en-US" dirty="0"/>
              <a:t>Query</a:t>
            </a:r>
          </a:p>
        </p:txBody>
      </p:sp>
      <p:pic>
        <p:nvPicPr>
          <p:cNvPr id="14" name="Content Placeholder 13" descr="The SQL query calculates total revenue and transaction count, differentiating between New Jersey and the rest of the Northeast Region, and orders results by total revenue in descending order.&#10;&#10;AI-generated content may be incorrect.">
            <a:extLst>
              <a:ext uri="{FF2B5EF4-FFF2-40B4-BE49-F238E27FC236}">
                <a16:creationId xmlns:a16="http://schemas.microsoft.com/office/drawing/2014/main" id="{D3ADF9AD-3C0B-6D74-23B7-10FF8A3B7557}"/>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83913" y="2582863"/>
            <a:ext cx="4805775" cy="3378200"/>
          </a:xfrm>
          <a:prstGeom prst="rect">
            <a:avLst/>
          </a:prstGeom>
        </p:spPr>
      </p:pic>
    </p:spTree>
    <p:extLst>
      <p:ext uri="{BB962C8B-B14F-4D97-AF65-F5344CB8AC3E}">
        <p14:creationId xmlns:p14="http://schemas.microsoft.com/office/powerpoint/2010/main" val="2782617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00FA9-CDF8-75B2-E92A-4F097CB55D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FA274C-F9BA-9031-1DB3-A9430AACE3B4}"/>
              </a:ext>
            </a:extLst>
          </p:cNvPr>
          <p:cNvSpPr>
            <a:spLocks noGrp="1"/>
          </p:cNvSpPr>
          <p:nvPr>
            <p:ph type="title"/>
          </p:nvPr>
        </p:nvSpPr>
        <p:spPr/>
        <p:txBody>
          <a:bodyPr>
            <a:noAutofit/>
          </a:bodyPr>
          <a:lstStyle/>
          <a:p>
            <a:pPr algn="ctr"/>
            <a:r>
              <a:rPr lang="en-US" sz="2400" dirty="0"/>
              <a:t>What is the number of transactions per month and average transaction size by product category for the sales territory? </a:t>
            </a:r>
          </a:p>
        </p:txBody>
      </p:sp>
      <p:sp>
        <p:nvSpPr>
          <p:cNvPr id="5" name="Text Placeholder 4">
            <a:extLst>
              <a:ext uri="{FF2B5EF4-FFF2-40B4-BE49-F238E27FC236}">
                <a16:creationId xmlns:a16="http://schemas.microsoft.com/office/drawing/2014/main" id="{398A8A28-295C-4DB3-ECD4-B81ED17DFBE5}"/>
              </a:ext>
            </a:extLst>
          </p:cNvPr>
          <p:cNvSpPr>
            <a:spLocks noGrp="1"/>
          </p:cNvSpPr>
          <p:nvPr>
            <p:ph type="body" idx="1"/>
          </p:nvPr>
        </p:nvSpPr>
        <p:spPr/>
        <p:txBody>
          <a:bodyPr/>
          <a:lstStyle/>
          <a:p>
            <a:r>
              <a:rPr lang="en-US" dirty="0"/>
              <a:t>Result</a:t>
            </a:r>
          </a:p>
        </p:txBody>
      </p:sp>
      <p:pic>
        <p:nvPicPr>
          <p:cNvPr id="3" name="Content Placeholder 2" descr="The image appears to be a table or spreadsheet displaying sales data for various categories, including apparel, art supplies, books, stationery, and technology, for the year 2022, with columns for sales year, sales month, category, number of transactions, and average transaction size.&#10;&#10;AI-generated content may be incorrect.">
            <a:extLst>
              <a:ext uri="{FF2B5EF4-FFF2-40B4-BE49-F238E27FC236}">
                <a16:creationId xmlns:a16="http://schemas.microsoft.com/office/drawing/2014/main" id="{0E445A3E-4FB9-81ED-AE0A-547D53372BA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043954" y="2582863"/>
            <a:ext cx="3044729" cy="3378200"/>
          </a:xfrm>
          <a:prstGeom prst="rect">
            <a:avLst/>
          </a:prstGeom>
        </p:spPr>
      </p:pic>
      <p:sp>
        <p:nvSpPr>
          <p:cNvPr id="7" name="Text Placeholder 6">
            <a:extLst>
              <a:ext uri="{FF2B5EF4-FFF2-40B4-BE49-F238E27FC236}">
                <a16:creationId xmlns:a16="http://schemas.microsoft.com/office/drawing/2014/main" id="{399A4A8D-D02D-5615-3116-81116EA08D07}"/>
              </a:ext>
            </a:extLst>
          </p:cNvPr>
          <p:cNvSpPr>
            <a:spLocks noGrp="1"/>
          </p:cNvSpPr>
          <p:nvPr>
            <p:ph type="body" sz="quarter" idx="3"/>
          </p:nvPr>
        </p:nvSpPr>
        <p:spPr/>
        <p:txBody>
          <a:bodyPr/>
          <a:lstStyle/>
          <a:p>
            <a:r>
              <a:rPr lang="en-US" dirty="0"/>
              <a:t>Query</a:t>
            </a:r>
          </a:p>
        </p:txBody>
      </p:sp>
      <p:pic>
        <p:nvPicPr>
          <p:cNvPr id="10" name="Content Placeholder 9" descr="The text describes a SQL query that joins multiple tables to aggregate sales data, focusing on New Jersey stores, and calculates the number of transactions, average transaction size, and total revenue for each product category, grouped by year and month.&#10;&#10;AI-generated content may be incorrect.">
            <a:extLst>
              <a:ext uri="{FF2B5EF4-FFF2-40B4-BE49-F238E27FC236}">
                <a16:creationId xmlns:a16="http://schemas.microsoft.com/office/drawing/2014/main" id="{4DD4722B-B01A-3360-C50D-C96658186B37}"/>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854345" y="2582863"/>
            <a:ext cx="3664910" cy="3378200"/>
          </a:xfrm>
          <a:prstGeom prst="rect">
            <a:avLst/>
          </a:prstGeom>
        </p:spPr>
      </p:pic>
    </p:spTree>
    <p:extLst>
      <p:ext uri="{BB962C8B-B14F-4D97-AF65-F5344CB8AC3E}">
        <p14:creationId xmlns:p14="http://schemas.microsoft.com/office/powerpoint/2010/main" val="728144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103DD-5EF9-03CA-2147-2C6C1632C2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D23F294-63A0-E7F3-6A95-7E8E1AFBEE68}"/>
              </a:ext>
            </a:extLst>
          </p:cNvPr>
          <p:cNvSpPr>
            <a:spLocks noGrp="1"/>
          </p:cNvSpPr>
          <p:nvPr>
            <p:ph type="title"/>
          </p:nvPr>
        </p:nvSpPr>
        <p:spPr/>
        <p:txBody>
          <a:bodyPr>
            <a:noAutofit/>
          </a:bodyPr>
          <a:lstStyle/>
          <a:p>
            <a:pPr algn="ctr"/>
            <a:r>
              <a:rPr lang="en-US" sz="2400" dirty="0"/>
              <a:t>Can you provide a ranking of in-store sales performance by each store in the sales territory, or a ranking of online sales performance by state within an online sales territory? </a:t>
            </a:r>
          </a:p>
        </p:txBody>
      </p:sp>
      <p:sp>
        <p:nvSpPr>
          <p:cNvPr id="5" name="Text Placeholder 4">
            <a:extLst>
              <a:ext uri="{FF2B5EF4-FFF2-40B4-BE49-F238E27FC236}">
                <a16:creationId xmlns:a16="http://schemas.microsoft.com/office/drawing/2014/main" id="{21BB7D5B-F11A-2179-AB5C-2015F0E4D66A}"/>
              </a:ext>
            </a:extLst>
          </p:cNvPr>
          <p:cNvSpPr>
            <a:spLocks noGrp="1"/>
          </p:cNvSpPr>
          <p:nvPr>
            <p:ph type="body" idx="1"/>
          </p:nvPr>
        </p:nvSpPr>
        <p:spPr/>
        <p:txBody>
          <a:bodyPr/>
          <a:lstStyle/>
          <a:p>
            <a:r>
              <a:rPr lang="en-US" dirty="0"/>
              <a:t>Result</a:t>
            </a:r>
          </a:p>
        </p:txBody>
      </p:sp>
      <p:pic>
        <p:nvPicPr>
          <p:cNvPr id="3" name="Content Placeholder 2" descr="The image displays a grid with various store locations in New Jersey, including Newark, Trenton, Hoboken, Atlantic City, and others, along with their corresponding store IDs, locations, total revenues, number of transactions, and average transaction values.&#10;&#10;AI-generated content may be incorrect.">
            <a:extLst>
              <a:ext uri="{FF2B5EF4-FFF2-40B4-BE49-F238E27FC236}">
                <a16:creationId xmlns:a16="http://schemas.microsoft.com/office/drawing/2014/main" id="{66700627-CF63-5BFE-AC8A-7CC741FABB9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039755" y="2582863"/>
            <a:ext cx="3053128" cy="3378200"/>
          </a:xfrm>
          <a:prstGeom prst="rect">
            <a:avLst/>
          </a:prstGeom>
        </p:spPr>
      </p:pic>
      <p:sp>
        <p:nvSpPr>
          <p:cNvPr id="7" name="Text Placeholder 6">
            <a:extLst>
              <a:ext uri="{FF2B5EF4-FFF2-40B4-BE49-F238E27FC236}">
                <a16:creationId xmlns:a16="http://schemas.microsoft.com/office/drawing/2014/main" id="{ADBF1932-D49E-554A-1C5A-BC84EAACFC77}"/>
              </a:ext>
            </a:extLst>
          </p:cNvPr>
          <p:cNvSpPr>
            <a:spLocks noGrp="1"/>
          </p:cNvSpPr>
          <p:nvPr>
            <p:ph type="body" sz="quarter" idx="3"/>
          </p:nvPr>
        </p:nvSpPr>
        <p:spPr/>
        <p:txBody>
          <a:bodyPr/>
          <a:lstStyle/>
          <a:p>
            <a:r>
              <a:rPr lang="en-US" dirty="0"/>
              <a:t>Query</a:t>
            </a:r>
          </a:p>
        </p:txBody>
      </p:sp>
      <p:pic>
        <p:nvPicPr>
          <p:cNvPr id="10" name="Content Placeholder 9" descr="The provided text appears to be a snippet of a SQL query, which is a structured query language used for managing and manipulating relational databases. Here's a description of the query:&#10;&#10;The SQL query is designed to calculate the total revenue, number of transactions, and average transaction size for each store in New Jersey. It joins two tables, `store_sales` and `store_locations`, on the `Store_ID` column. It filters the results to only include data from New Jersey and then groups the results by `Store_ID` and `StoreLocation`. Finally, it orders the results by `Total_Store_Revenue` in descending order, effectively ranking the stores from highest to lowest revenue.&#10;&#10;AI-generated content may be incorrect.">
            <a:extLst>
              <a:ext uri="{FF2B5EF4-FFF2-40B4-BE49-F238E27FC236}">
                <a16:creationId xmlns:a16="http://schemas.microsoft.com/office/drawing/2014/main" id="{4193103C-1969-19D2-ECD0-37BD501A60FA}"/>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617470" y="2582863"/>
            <a:ext cx="4138660" cy="3378200"/>
          </a:xfrm>
          <a:prstGeom prst="rect">
            <a:avLst/>
          </a:prstGeom>
        </p:spPr>
      </p:pic>
    </p:spTree>
    <p:extLst>
      <p:ext uri="{BB962C8B-B14F-4D97-AF65-F5344CB8AC3E}">
        <p14:creationId xmlns:p14="http://schemas.microsoft.com/office/powerpoint/2010/main" val="3936336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74D9A-5C83-5EAA-3D5F-C0ACEC008D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1E9130-D7A2-EAFF-5930-140945D88416}"/>
              </a:ext>
            </a:extLst>
          </p:cNvPr>
          <p:cNvSpPr>
            <a:spLocks noGrp="1"/>
          </p:cNvSpPr>
          <p:nvPr>
            <p:ph type="title"/>
          </p:nvPr>
        </p:nvSpPr>
        <p:spPr/>
        <p:txBody>
          <a:bodyPr>
            <a:noAutofit/>
          </a:bodyPr>
          <a:lstStyle/>
          <a:p>
            <a:pPr algn="ctr"/>
            <a:r>
              <a:rPr lang="en-US" sz="2400" dirty="0"/>
              <a:t>What is your recommendation for where to focus sales attention in the next quarter? </a:t>
            </a:r>
          </a:p>
        </p:txBody>
      </p:sp>
      <p:sp>
        <p:nvSpPr>
          <p:cNvPr id="5" name="Text Placeholder 4">
            <a:extLst>
              <a:ext uri="{FF2B5EF4-FFF2-40B4-BE49-F238E27FC236}">
                <a16:creationId xmlns:a16="http://schemas.microsoft.com/office/drawing/2014/main" id="{1F187F74-924C-F350-C23F-A4DA6E613E85}"/>
              </a:ext>
            </a:extLst>
          </p:cNvPr>
          <p:cNvSpPr>
            <a:spLocks noGrp="1"/>
          </p:cNvSpPr>
          <p:nvPr>
            <p:ph idx="1"/>
          </p:nvPr>
        </p:nvSpPr>
        <p:spPr/>
        <p:txBody>
          <a:bodyPr>
            <a:normAutofit fontScale="25000" lnSpcReduction="20000"/>
          </a:bodyPr>
          <a:lstStyle/>
          <a:p>
            <a:pPr marL="0" indent="0">
              <a:buNone/>
            </a:pPr>
            <a:endParaRPr lang="en-US" dirty="0"/>
          </a:p>
          <a:p>
            <a:pPr marL="0" indent="0">
              <a:buNone/>
            </a:pPr>
            <a:r>
              <a:rPr lang="en-US" dirty="0"/>
              <a:t>Based on my New Jersey store sales analysis, My recommendation for next quarter is to focus on low-performing stores and weak product categories.</a:t>
            </a:r>
          </a:p>
          <a:p>
            <a:pPr marL="0" indent="0">
              <a:buNone/>
            </a:pPr>
            <a:r>
              <a:rPr lang="en-US" dirty="0"/>
              <a:t>From the store results, Newark and Trenton are the top-performing stores, so they should be used as a benchmark. </a:t>
            </a:r>
          </a:p>
          <a:p>
            <a:pPr marL="0" indent="0">
              <a:buNone/>
            </a:pPr>
            <a:r>
              <a:rPr lang="en-US" dirty="0"/>
              <a:t>The lowest-performing store is Paterson, which has low total revenue and fewer transactions, meaning it likely needs more customer traffic, promotions, or better store</a:t>
            </a:r>
          </a:p>
          <a:p>
            <a:pPr marL="0" indent="0">
              <a:buNone/>
            </a:pPr>
            <a:r>
              <a:rPr lang="en-US" dirty="0"/>
              <a:t> strategy.</a:t>
            </a:r>
          </a:p>
          <a:p>
            <a:pPr marL="0" indent="0">
              <a:buNone/>
            </a:pPr>
            <a:r>
              <a:rPr lang="en-US" dirty="0"/>
              <a:t>Other lower-performing stores like Montclair, Cape May, and Bayonne also need attention because they are below average compared to the top stores.</a:t>
            </a:r>
          </a:p>
          <a:p>
            <a:pPr marL="0" indent="0">
              <a:buNone/>
            </a:pPr>
            <a:r>
              <a:rPr lang="en-US" dirty="0"/>
              <a:t>For product categories, Technology &amp; Accessories and Textbooks are the strongest because they generate the most revenue and higher transaction values. On the other</a:t>
            </a:r>
          </a:p>
          <a:p>
            <a:pPr marL="0" indent="0">
              <a:buNone/>
            </a:pPr>
            <a:r>
              <a:rPr lang="en-US" dirty="0"/>
              <a:t> hand, Stationery and Supplies and Books generate a lower revenue and low average transaction size.</a:t>
            </a:r>
          </a:p>
          <a:p>
            <a:pPr marL="0" indent="0">
              <a:buNone/>
            </a:pPr>
            <a:r>
              <a:rPr lang="en-US" dirty="0"/>
              <a:t>To improve performance, stores can bundle low-value items with higher-value products to increase the average transaction size.</a:t>
            </a:r>
          </a:p>
          <a:p>
            <a:pPr marL="0" indent="0">
              <a:buNone/>
            </a:pPr>
            <a:endParaRPr lang="en-US" dirty="0"/>
          </a:p>
          <a:p>
            <a:pPr marL="0" indent="0">
              <a:buNone/>
            </a:pPr>
            <a:r>
              <a:rPr lang="en-US" dirty="0"/>
              <a:t>Next quarter focus:</a:t>
            </a:r>
          </a:p>
          <a:p>
            <a:pPr marL="0" indent="0">
              <a:buNone/>
            </a:pPr>
            <a:r>
              <a:rPr lang="en-US" dirty="0"/>
              <a:t>1. Improve low-performing stores like Paterson  </a:t>
            </a:r>
          </a:p>
          <a:p>
            <a:pPr marL="0" indent="0">
              <a:buNone/>
            </a:pPr>
            <a:r>
              <a:rPr lang="en-US" dirty="0"/>
              <a:t>2. Increase customer traffic and sales activity  </a:t>
            </a:r>
          </a:p>
          <a:p>
            <a:pPr marL="0" indent="0">
              <a:buNone/>
            </a:pPr>
            <a:r>
              <a:rPr lang="en-US" dirty="0"/>
              <a:t>3. Strengthen weak categories  </a:t>
            </a:r>
          </a:p>
          <a:p>
            <a:pPr marL="0" indent="0">
              <a:buNone/>
            </a:pPr>
            <a:r>
              <a:rPr lang="en-US" dirty="0"/>
              <a:t>4. Apply strategies from top stores like Newark and Trenton  </a:t>
            </a:r>
          </a:p>
          <a:p>
            <a:pPr marL="0" indent="0">
              <a:buNone/>
            </a:pPr>
            <a:r>
              <a:rPr lang="en-US" dirty="0"/>
              <a:t>5. Increase total revenue and average transaction size  </a:t>
            </a:r>
          </a:p>
          <a:p>
            <a:pPr marL="0" indent="0">
              <a:buNone/>
            </a:pPr>
            <a:r>
              <a:rPr lang="en-US" dirty="0"/>
              <a:t>Overall, the goal is to close the gap between low and high-performing stores and improve overall store sales in New Jersey.</a:t>
            </a:r>
          </a:p>
          <a:p>
            <a:pPr marL="0" indent="0">
              <a:buNone/>
            </a:pPr>
            <a:endParaRPr lang="en-US" dirty="0"/>
          </a:p>
        </p:txBody>
      </p:sp>
    </p:spTree>
    <p:extLst>
      <p:ext uri="{BB962C8B-B14F-4D97-AF65-F5344CB8AC3E}">
        <p14:creationId xmlns:p14="http://schemas.microsoft.com/office/powerpoint/2010/main" val="773863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03E1130-C6B1-DAA8-0797-3A58E4BB4CED}"/>
              </a:ext>
            </a:extLst>
          </p:cNvPr>
          <p:cNvSpPr>
            <a:spLocks noGrp="1"/>
          </p:cNvSpPr>
          <p:nvPr>
            <p:ph type="title"/>
          </p:nvPr>
        </p:nvSpPr>
        <p:spPr>
          <a:xfrm>
            <a:off x="839788" y="365126"/>
            <a:ext cx="10515600" cy="365168"/>
          </a:xfrm>
        </p:spPr>
        <p:txBody>
          <a:bodyPr>
            <a:normAutofit fontScale="90000"/>
          </a:bodyPr>
          <a:lstStyle/>
          <a:p>
            <a:r>
              <a:rPr lang="en-US" dirty="0"/>
              <a:t>Visualization</a:t>
            </a:r>
          </a:p>
        </p:txBody>
      </p:sp>
      <p:sp>
        <p:nvSpPr>
          <p:cNvPr id="10" name="Text Placeholder 9">
            <a:extLst>
              <a:ext uri="{FF2B5EF4-FFF2-40B4-BE49-F238E27FC236}">
                <a16:creationId xmlns:a16="http://schemas.microsoft.com/office/drawing/2014/main" id="{F0F62143-A563-3020-8DE3-CDEDB69CA4FF}"/>
              </a:ext>
            </a:extLst>
          </p:cNvPr>
          <p:cNvSpPr>
            <a:spLocks noGrp="1"/>
          </p:cNvSpPr>
          <p:nvPr>
            <p:ph type="body" idx="1"/>
          </p:nvPr>
        </p:nvSpPr>
        <p:spPr/>
        <p:txBody>
          <a:bodyPr/>
          <a:lstStyle/>
          <a:p>
            <a:r>
              <a:rPr lang="en-US" dirty="0"/>
              <a:t>Pivot Table</a:t>
            </a:r>
          </a:p>
        </p:txBody>
      </p:sp>
      <p:pic>
        <p:nvPicPr>
          <p:cNvPr id="4" name="Content Placeholder 3" descr="The image displays a table with various product categories and their corresponding sales data, including the number of transactions, average transaction size, and total revenue for the years 2022, 2023, and 2024.&#10;&#10;AI-generated content may be incorrect.">
            <a:extLst>
              <a:ext uri="{FF2B5EF4-FFF2-40B4-BE49-F238E27FC236}">
                <a16:creationId xmlns:a16="http://schemas.microsoft.com/office/drawing/2014/main" id="{AFBD6681-CA03-1481-CD0F-CC5F87669A8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96963" y="2623663"/>
            <a:ext cx="4938712" cy="3296600"/>
          </a:xfrm>
          <a:prstGeom prst="rect">
            <a:avLst/>
          </a:prstGeom>
        </p:spPr>
      </p:pic>
      <p:sp>
        <p:nvSpPr>
          <p:cNvPr id="12" name="Text Placeholder 11">
            <a:extLst>
              <a:ext uri="{FF2B5EF4-FFF2-40B4-BE49-F238E27FC236}">
                <a16:creationId xmlns:a16="http://schemas.microsoft.com/office/drawing/2014/main" id="{98F48E83-DF68-56DA-6537-511F510E42C4}"/>
              </a:ext>
            </a:extLst>
          </p:cNvPr>
          <p:cNvSpPr>
            <a:spLocks noGrp="1"/>
          </p:cNvSpPr>
          <p:nvPr>
            <p:ph type="body" sz="quarter" idx="3"/>
          </p:nvPr>
        </p:nvSpPr>
        <p:spPr/>
        <p:txBody>
          <a:bodyPr/>
          <a:lstStyle/>
          <a:p>
            <a:r>
              <a:rPr lang="en-US" dirty="0"/>
              <a:t>PivotChart</a:t>
            </a:r>
          </a:p>
        </p:txBody>
      </p:sp>
      <p:pic>
        <p:nvPicPr>
          <p:cNvPr id="6" name="Content Placeholder 5" descr="The image is a bar chart showing the number of transactions, average transaction size, and total revenue for various categories (e.g., apparel, books, technology) over different years (2022-2024).&#10;&#10;AI-generated content may be incorrect.">
            <a:extLst>
              <a:ext uri="{FF2B5EF4-FFF2-40B4-BE49-F238E27FC236}">
                <a16:creationId xmlns:a16="http://schemas.microsoft.com/office/drawing/2014/main" id="{CC0F96A9-86CF-9724-B0C4-7AC477087D38}"/>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91629" y="2582863"/>
            <a:ext cx="4790342" cy="3378200"/>
          </a:xfrm>
          <a:prstGeom prst="rect">
            <a:avLst/>
          </a:prstGeom>
        </p:spPr>
      </p:pic>
      <p:sp>
        <p:nvSpPr>
          <p:cNvPr id="2" name="TextBox 1">
            <a:extLst>
              <a:ext uri="{FF2B5EF4-FFF2-40B4-BE49-F238E27FC236}">
                <a16:creationId xmlns:a16="http://schemas.microsoft.com/office/drawing/2014/main" id="{BD08627D-5404-15D7-0DE1-D3DC4A053BD4}"/>
              </a:ext>
            </a:extLst>
          </p:cNvPr>
          <p:cNvSpPr txBox="1"/>
          <p:nvPr/>
        </p:nvSpPr>
        <p:spPr>
          <a:xfrm>
            <a:off x="883715" y="969632"/>
            <a:ext cx="10340698" cy="646331"/>
          </a:xfrm>
          <a:prstGeom prst="rect">
            <a:avLst/>
          </a:prstGeom>
          <a:noFill/>
        </p:spPr>
        <p:txBody>
          <a:bodyPr wrap="square" rtlCol="0">
            <a:spAutoFit/>
          </a:bodyPr>
          <a:lstStyle/>
          <a:p>
            <a:r>
              <a:rPr lang="en-US"/>
              <a:t>What is the number of transactions per month and average transaction size by product category for the sales territory? </a:t>
            </a:r>
            <a:endParaRPr lang="en-US" dirty="0"/>
          </a:p>
        </p:txBody>
      </p:sp>
    </p:spTree>
    <p:extLst>
      <p:ext uri="{BB962C8B-B14F-4D97-AF65-F5344CB8AC3E}">
        <p14:creationId xmlns:p14="http://schemas.microsoft.com/office/powerpoint/2010/main" val="1251848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30F28-DA4B-B467-0992-643F48B491A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6C684B10-1B83-99FE-0E09-6D1EF57A3CEA}"/>
              </a:ext>
            </a:extLst>
          </p:cNvPr>
          <p:cNvSpPr>
            <a:spLocks noGrp="1"/>
          </p:cNvSpPr>
          <p:nvPr>
            <p:ph type="title"/>
          </p:nvPr>
        </p:nvSpPr>
        <p:spPr>
          <a:xfrm>
            <a:off x="839788" y="365126"/>
            <a:ext cx="10515600" cy="365168"/>
          </a:xfrm>
        </p:spPr>
        <p:txBody>
          <a:bodyPr>
            <a:normAutofit fontScale="90000"/>
          </a:bodyPr>
          <a:lstStyle/>
          <a:p>
            <a:r>
              <a:rPr lang="en-US" dirty="0"/>
              <a:t>Visualization</a:t>
            </a:r>
          </a:p>
        </p:txBody>
      </p:sp>
      <p:sp>
        <p:nvSpPr>
          <p:cNvPr id="10" name="Text Placeholder 9">
            <a:extLst>
              <a:ext uri="{FF2B5EF4-FFF2-40B4-BE49-F238E27FC236}">
                <a16:creationId xmlns:a16="http://schemas.microsoft.com/office/drawing/2014/main" id="{E4877138-C6F9-40D1-6FC1-E310D64DF367}"/>
              </a:ext>
            </a:extLst>
          </p:cNvPr>
          <p:cNvSpPr>
            <a:spLocks noGrp="1"/>
          </p:cNvSpPr>
          <p:nvPr>
            <p:ph type="body" idx="1"/>
          </p:nvPr>
        </p:nvSpPr>
        <p:spPr/>
        <p:txBody>
          <a:bodyPr/>
          <a:lstStyle/>
          <a:p>
            <a:r>
              <a:rPr lang="en-US" dirty="0"/>
              <a:t>Pivot Table</a:t>
            </a:r>
          </a:p>
        </p:txBody>
      </p:sp>
      <p:pic>
        <p:nvPicPr>
          <p:cNvPr id="13" name="Content Placeholder 12" descr="The image displays a table summarizing the number of transactions, average revenue, and total store revenue for various locations, with a grand total at the bottom.&#10;&#10;AI-generated content may be incorrect.">
            <a:extLst>
              <a:ext uri="{FF2B5EF4-FFF2-40B4-BE49-F238E27FC236}">
                <a16:creationId xmlns:a16="http://schemas.microsoft.com/office/drawing/2014/main" id="{58C16AEF-6ED8-1952-85FC-332D92F4625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96963" y="2796828"/>
            <a:ext cx="4938712" cy="2950269"/>
          </a:xfrm>
          <a:prstGeom prst="rect">
            <a:avLst/>
          </a:prstGeom>
        </p:spPr>
      </p:pic>
      <p:sp>
        <p:nvSpPr>
          <p:cNvPr id="12" name="Text Placeholder 11">
            <a:extLst>
              <a:ext uri="{FF2B5EF4-FFF2-40B4-BE49-F238E27FC236}">
                <a16:creationId xmlns:a16="http://schemas.microsoft.com/office/drawing/2014/main" id="{04653D14-E8F5-190E-BD71-27D3A4051322}"/>
              </a:ext>
            </a:extLst>
          </p:cNvPr>
          <p:cNvSpPr>
            <a:spLocks noGrp="1"/>
          </p:cNvSpPr>
          <p:nvPr>
            <p:ph type="body" sz="quarter" idx="3"/>
          </p:nvPr>
        </p:nvSpPr>
        <p:spPr/>
        <p:txBody>
          <a:bodyPr/>
          <a:lstStyle/>
          <a:p>
            <a:r>
              <a:rPr lang="en-US" dirty="0"/>
              <a:t>PivotChart</a:t>
            </a:r>
          </a:p>
        </p:txBody>
      </p:sp>
      <p:pic>
        <p:nvPicPr>
          <p:cNvPr id="15" name="Content Placeholder 14" descr="The image is a bar chart showing the sum of number of transactions, average revenue, and total store revenue for various locations including New Jersey cities.">
            <a:extLst>
              <a:ext uri="{FF2B5EF4-FFF2-40B4-BE49-F238E27FC236}">
                <a16:creationId xmlns:a16="http://schemas.microsoft.com/office/drawing/2014/main" id="{38704159-5F1B-F675-19F7-B68D1D522742}"/>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18238" y="2777927"/>
            <a:ext cx="4937125" cy="2988071"/>
          </a:xfrm>
          <a:prstGeom prst="rect">
            <a:avLst/>
          </a:prstGeom>
        </p:spPr>
      </p:pic>
      <p:sp>
        <p:nvSpPr>
          <p:cNvPr id="2" name="TextBox 1">
            <a:extLst>
              <a:ext uri="{FF2B5EF4-FFF2-40B4-BE49-F238E27FC236}">
                <a16:creationId xmlns:a16="http://schemas.microsoft.com/office/drawing/2014/main" id="{8324C115-28A4-BC43-373C-3DDFBCB2E858}"/>
              </a:ext>
            </a:extLst>
          </p:cNvPr>
          <p:cNvSpPr txBox="1"/>
          <p:nvPr/>
        </p:nvSpPr>
        <p:spPr>
          <a:xfrm>
            <a:off x="883715" y="969632"/>
            <a:ext cx="10340698" cy="646331"/>
          </a:xfrm>
          <a:prstGeom prst="rect">
            <a:avLst/>
          </a:prstGeom>
          <a:noFill/>
        </p:spPr>
        <p:txBody>
          <a:bodyPr wrap="square" rtlCol="0">
            <a:spAutoFit/>
          </a:bodyPr>
          <a:lstStyle/>
          <a:p>
            <a:r>
              <a:rPr lang="en-US" dirty="0"/>
              <a:t>Can you provide a ranking of in-store sales performance by each store in the sales territory, or a ranking of online sales performance by state within an online sales territory? </a:t>
            </a:r>
          </a:p>
        </p:txBody>
      </p:sp>
    </p:spTree>
    <p:extLst>
      <p:ext uri="{BB962C8B-B14F-4D97-AF65-F5344CB8AC3E}">
        <p14:creationId xmlns:p14="http://schemas.microsoft.com/office/powerpoint/2010/main" val="3680714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CD070-E711-3D9C-9C00-90C9F5D85C0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7103C3C3-0360-D373-6CB6-F77E0A5E3E0E}"/>
              </a:ext>
            </a:extLst>
          </p:cNvPr>
          <p:cNvSpPr>
            <a:spLocks noGrp="1"/>
          </p:cNvSpPr>
          <p:nvPr>
            <p:ph type="title"/>
          </p:nvPr>
        </p:nvSpPr>
        <p:spPr>
          <a:xfrm>
            <a:off x="839788" y="365126"/>
            <a:ext cx="10515600" cy="365168"/>
          </a:xfrm>
        </p:spPr>
        <p:txBody>
          <a:bodyPr>
            <a:normAutofit fontScale="90000"/>
          </a:bodyPr>
          <a:lstStyle/>
          <a:p>
            <a:r>
              <a:rPr lang="en-US" dirty="0"/>
              <a:t>Visualization</a:t>
            </a:r>
          </a:p>
        </p:txBody>
      </p:sp>
      <p:sp>
        <p:nvSpPr>
          <p:cNvPr id="10" name="Text Placeholder 9">
            <a:extLst>
              <a:ext uri="{FF2B5EF4-FFF2-40B4-BE49-F238E27FC236}">
                <a16:creationId xmlns:a16="http://schemas.microsoft.com/office/drawing/2014/main" id="{D891A0A6-1A29-A48A-8BD0-BD97DBBB3C11}"/>
              </a:ext>
            </a:extLst>
          </p:cNvPr>
          <p:cNvSpPr>
            <a:spLocks noGrp="1"/>
          </p:cNvSpPr>
          <p:nvPr>
            <p:ph type="body" idx="1"/>
          </p:nvPr>
        </p:nvSpPr>
        <p:spPr/>
        <p:txBody>
          <a:bodyPr/>
          <a:lstStyle/>
          <a:p>
            <a:r>
              <a:rPr lang="en-US" dirty="0"/>
              <a:t>Pivot Table</a:t>
            </a:r>
          </a:p>
        </p:txBody>
      </p:sp>
      <p:pic>
        <p:nvPicPr>
          <p:cNvPr id="8" name="Content Placeholder 7" descr="The image displays a product category table with columns for total revenue, number of transactions, and average transaction revenue for various product categories.&#10;&#10;AI-generated content may be incorrect.">
            <a:extLst>
              <a:ext uri="{FF2B5EF4-FFF2-40B4-BE49-F238E27FC236}">
                <a16:creationId xmlns:a16="http://schemas.microsoft.com/office/drawing/2014/main" id="{EF900DD0-EAF9-7559-684D-3991BD365D4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96963" y="3555247"/>
            <a:ext cx="4938712" cy="1433431"/>
          </a:xfrm>
          <a:prstGeom prst="rect">
            <a:avLst/>
          </a:prstGeom>
        </p:spPr>
      </p:pic>
      <p:sp>
        <p:nvSpPr>
          <p:cNvPr id="12" name="Text Placeholder 11">
            <a:extLst>
              <a:ext uri="{FF2B5EF4-FFF2-40B4-BE49-F238E27FC236}">
                <a16:creationId xmlns:a16="http://schemas.microsoft.com/office/drawing/2014/main" id="{2E8B70DD-6B98-2CDE-2DFB-DAEFE805683C}"/>
              </a:ext>
            </a:extLst>
          </p:cNvPr>
          <p:cNvSpPr>
            <a:spLocks noGrp="1"/>
          </p:cNvSpPr>
          <p:nvPr>
            <p:ph type="body" sz="quarter" idx="3"/>
          </p:nvPr>
        </p:nvSpPr>
        <p:spPr/>
        <p:txBody>
          <a:bodyPr/>
          <a:lstStyle/>
          <a:p>
            <a:r>
              <a:rPr lang="en-US" dirty="0"/>
              <a:t>PivotChart</a:t>
            </a:r>
          </a:p>
        </p:txBody>
      </p:sp>
      <p:pic>
        <p:nvPicPr>
          <p:cNvPr id="14" name="Content Placeholder 13" descr="The image displays a pie chart with various product categories and their corresponding percentages of total revenue, including categories like books, stationery, art supplies, apparel, textbooks, and technology.&#10;&#10;AI-generated content may be incorrect.">
            <a:extLst>
              <a:ext uri="{FF2B5EF4-FFF2-40B4-BE49-F238E27FC236}">
                <a16:creationId xmlns:a16="http://schemas.microsoft.com/office/drawing/2014/main" id="{0B5B7F18-90D5-5DF7-A599-DC641C131285}"/>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18238" y="2618266"/>
            <a:ext cx="4937125" cy="3307394"/>
          </a:xfrm>
          <a:prstGeom prst="rect">
            <a:avLst/>
          </a:prstGeom>
        </p:spPr>
      </p:pic>
      <p:sp>
        <p:nvSpPr>
          <p:cNvPr id="2" name="TextBox 1">
            <a:extLst>
              <a:ext uri="{FF2B5EF4-FFF2-40B4-BE49-F238E27FC236}">
                <a16:creationId xmlns:a16="http://schemas.microsoft.com/office/drawing/2014/main" id="{3F5D7F28-30FA-EB39-96E9-12C1A5F93E1A}"/>
              </a:ext>
            </a:extLst>
          </p:cNvPr>
          <p:cNvSpPr txBox="1"/>
          <p:nvPr/>
        </p:nvSpPr>
        <p:spPr>
          <a:xfrm>
            <a:off x="883715" y="969632"/>
            <a:ext cx="10340698" cy="369332"/>
          </a:xfrm>
          <a:prstGeom prst="rect">
            <a:avLst/>
          </a:prstGeom>
          <a:noFill/>
        </p:spPr>
        <p:txBody>
          <a:bodyPr wrap="square" rtlCol="0">
            <a:spAutoFit/>
          </a:bodyPr>
          <a:lstStyle/>
          <a:p>
            <a:r>
              <a:rPr lang="en-US" dirty="0"/>
              <a:t>Compare the performance of Product Categories in the New Jersey Location </a:t>
            </a:r>
          </a:p>
        </p:txBody>
      </p:sp>
    </p:spTree>
    <p:extLst>
      <p:ext uri="{BB962C8B-B14F-4D97-AF65-F5344CB8AC3E}">
        <p14:creationId xmlns:p14="http://schemas.microsoft.com/office/powerpoint/2010/main" val="3132163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157256-FED8-C804-D57A-85BB06E7D6E3}"/>
              </a:ext>
            </a:extLst>
          </p:cNvPr>
          <p:cNvSpPr>
            <a:spLocks noGrp="1"/>
          </p:cNvSpPr>
          <p:nvPr>
            <p:ph type="title"/>
          </p:nvPr>
        </p:nvSpPr>
        <p:spPr/>
        <p:txBody>
          <a:bodyPr/>
          <a:lstStyle/>
          <a:p>
            <a:r>
              <a:rPr lang="en-US" dirty="0"/>
              <a:t>GitHub Repository </a:t>
            </a:r>
          </a:p>
        </p:txBody>
      </p:sp>
      <p:sp>
        <p:nvSpPr>
          <p:cNvPr id="2" name="Content Placeholder 1">
            <a:extLst>
              <a:ext uri="{FF2B5EF4-FFF2-40B4-BE49-F238E27FC236}">
                <a16:creationId xmlns:a16="http://schemas.microsoft.com/office/drawing/2014/main" id="{A0D80D99-22D0-7D35-26F0-37402E632F5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3437793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173</TotalTime>
  <Words>675</Words>
  <Application>Microsoft Office PowerPoint</Application>
  <PresentationFormat>Widescreen</PresentationFormat>
  <Paragraphs>63</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Calibri</vt:lpstr>
      <vt:lpstr>Calibri Light</vt:lpstr>
      <vt:lpstr>Retrospect</vt:lpstr>
      <vt:lpstr>Capstone Project </vt:lpstr>
      <vt:lpstr>Introduction</vt:lpstr>
      <vt:lpstr>Sales Analysis</vt:lpstr>
      <vt:lpstr>What is total revenue overall for sales in the assigned territory, plus the start date and end date that tell you what period the data covers?</vt:lpstr>
      <vt:lpstr>What is the month by month revenue breakdown for the sales territory? </vt:lpstr>
      <vt:lpstr>Provide a comparison of total revenue for the specific sales territory and the region it belongs to. </vt:lpstr>
      <vt:lpstr>Provide a comparison of total revenue for the specific sales territory and the region it belongs to. </vt:lpstr>
      <vt:lpstr>What is the number of transactions per month and average transaction size by product category for the sales territory? </vt:lpstr>
      <vt:lpstr>Can you provide a ranking of in-store sales performance by each store in the sales territory, or a ranking of online sales performance by state within an online sales territory? </vt:lpstr>
      <vt:lpstr>What is your recommendation for where to focus sales attention in the next quarter? </vt:lpstr>
      <vt:lpstr>Visualization</vt:lpstr>
      <vt:lpstr>Visualization</vt:lpstr>
      <vt:lpstr>Visualization</vt:lpstr>
      <vt:lpstr>GitHub Repository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Deodat P. Sharma</dc:creator>
  <cp:lastModifiedBy>dimitri nji</cp:lastModifiedBy>
  <cp:revision>15</cp:revision>
  <dcterms:created xsi:type="dcterms:W3CDTF">2026-04-29T09:01:01Z</dcterms:created>
  <dcterms:modified xsi:type="dcterms:W3CDTF">2026-04-30T16:45:32Z</dcterms:modified>
</cp:coreProperties>
</file>